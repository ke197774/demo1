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Supabase 技术分享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DD598"/>
                </a:solidFill>
              </a:defRPr>
            </a:pPr>
            <a:r>
              <a:t>开源的 Firebase 替代方案 | 让前端开发者也能做全栈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分享目录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问题引入：传统全栈开发的痛点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BaaS 概念与 Supabase 定位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Supabase 核心功能详解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实战 Demo：10分钟搭建应用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技术选型与对比分析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总结与资源推荐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传统全栈开发的痛点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后端搭建复杂：服务器配置、数据库设计、API 开发...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运维成本高：部署、监控、扩展、安全...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认证系统繁琐：注册登录、权限管理、安全防护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前端开发者面临的困境</a:t>
            </a:r>
          </a:p>
          <a:p>
            <a:pPr lvl="2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想快速验证想法，却被后端劝退</a:t>
            </a:r>
          </a:p>
          <a:p>
            <a:pPr lvl="2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MVP 开发周期长，错过市场窗口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BaaS：Backend as a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什么是 BaaS？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云端后端服务，开箱即用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数据库、认证、存储、API 一站式提供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Firebase 的成功与局限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成功：快速开发、实时同步、Google 生态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局限：闭源、NoSQL 限制、Vendor Lock-in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Supabase 的定位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开源的 Firebase 替代方案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基于 PostgreSQL，功能强大且灵活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Supabase 是什么？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开源的 Backend-as-a-Service 平台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基于 PostgreSQL 构建的完整后端解决方案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99.2K+ GitHub Stars，Top 100 开源项目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被 Mozilla、GitHub、1Password 等企业使用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SOC2 Type 2 认证，HIPAA 合规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支持 React、Vue、Flutter、Next.js 等主流框架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Supabase 核心功能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D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DD598"/>
                </a:solidFill>
              </a:defRPr>
            </a:pPr>
            <a:r>
              <a:t>PostgreSQL 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全功能 Postgres</a:t>
            </a:r>
            <a:br/>
            <a:r>
              <a:t>自动生成 REST API</a:t>
            </a:r>
            <a:br/>
            <a:r>
              <a:t>实时数据订阅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认证系统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邮箱/社交登录</a:t>
            </a:r>
            <a:br/>
            <a:r>
              <a:t>Row Level Security</a:t>
            </a:r>
            <a:br/>
            <a:r>
              <a:t>JWT Token 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存储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文件上传管理</a:t>
            </a:r>
            <a:br/>
            <a:r>
              <a:t>CDN 加速分发</a:t>
            </a:r>
            <a:br/>
            <a:r>
              <a:t>细粒度权限控制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4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Edge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Deno 运行时</a:t>
            </a:r>
            <a:br/>
            <a:r>
              <a:t>全球边缘部署</a:t>
            </a:r>
            <a:br/>
            <a:r>
              <a:t>Webhook 支持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4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D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DD598"/>
                </a:solidFill>
              </a:defRPr>
            </a:pPr>
            <a:r>
              <a:t>实时订阅 Realtime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389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WebSocket 连接</a:t>
            </a:r>
            <a:br/>
            <a:r>
              <a:t>多人协作场景</a:t>
            </a:r>
            <a:br/>
            <a:r>
              <a:t>变更监听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749040"/>
            <a:ext cx="3474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931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向量数据库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389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AI 向量存储</a:t>
            </a:r>
            <a:br/>
            <a:r>
              <a:t>Embedding 搜索</a:t>
            </a:r>
            <a:br/>
            <a:r>
              <a:t>OpenAI 集成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PostgreSQL 数据库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每个项目 = 一个完整的 PostgreSQL 数据库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自动生成 RESTful API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无需手写 CRUD 接口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支持复杂查询、事务、存储过程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实时订阅（Realtime）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基于 PostgreSQL 的 LISTEN/NOTIFY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WebSocket 连接，毫秒级同步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表编辑器：可视化建表、修改数据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SQL 编辑器：支持复杂查询和调试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认证系统 (Authentication)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多种登录方式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邮箱 + 密码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社交登录：Google、GitHub、Apple、微信...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Magic Link：无密码登录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手机号 + 短信验证码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Row Level Security (RLS)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行级权限控制，数据安全有保障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声明式策略，SQL 级别实现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用户管理：Dashboard 可视化管理用户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存储 &amp; Edge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Storage 文件存储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支持图片、视频等大文件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自动 CDN 加速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图片变换：缩放、裁剪、格式转换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细粒度权限控制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Edge Functions 边缘函数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Deno 运行时，TypeScript 原生支持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全球 300+ 节点部署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适合 Webhook、定时任务、API 扩展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实战 Demo：待办事项应用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创建 Supabase 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B82F6"/>
                </a:solidFill>
              </a:defRPr>
            </a:pPr>
            <a:r>
              <a:t>1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注册账号，创建新项目，获取 API 密钥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创建数据表 + 配置 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B82F6"/>
                </a:solidFill>
              </a:defRPr>
            </a:pPr>
            <a:r>
              <a:t>2 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设计表结构，设置行级安全策略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83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连接前端代码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B82F6"/>
                </a:solidFill>
              </a:defRPr>
            </a:pPr>
            <a:r>
              <a:t>3 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490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安装 SDK，配置连接，实现 CRUD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添加认证功能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389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B82F6"/>
                </a:solidFill>
              </a:defRPr>
            </a:pPr>
            <a:r>
              <a:t>2 分钟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54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集成登录组件，实现用户隔离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5394960"/>
            <a:ext cx="548640" cy="548640"/>
          </a:xfrm>
          <a:prstGeom prst="ellipse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394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展示实时同步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394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B82F6"/>
                </a:solidFill>
              </a:defRPr>
            </a:pPr>
            <a:r>
              <a:t>2 分钟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7607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打开多窗口，演示实时数据同步效果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代码示例：初始化项目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// 安装依赖</a:t>
            </a:r>
            <a:br/>
            <a:r>
              <a:t>npm install @supabase/supabase-js</a:t>
            </a:r>
            <a:br/>
            <a:br/>
            <a:r>
              <a:t>// 初始化客户端</a:t>
            </a:r>
            <a:br/>
            <a:r>
              <a:t>import { createClient } from '@supabase/supabase-js'</a:t>
            </a:r>
            <a:br/>
            <a:br/>
            <a:r>
              <a:t>const supabaseUrl = 'https://your-project.supabase.co'</a:t>
            </a:r>
            <a:br/>
            <a:r>
              <a:t>const supabaseKey = 'your-anon-key'</a:t>
            </a:r>
            <a:br/>
            <a:br/>
            <a:r>
              <a:t>export const supabase = createClient(supabaseUrl, supabaseKey)</a:t>
            </a:r>
            <a:br/>
            <a:br/>
            <a:r>
              <a:t>// 类型定义（TypeScript）</a:t>
            </a:r>
            <a:br/>
            <a:r>
              <a:t>interface Todo {</a:t>
            </a:r>
            <a:br/>
            <a:r>
              <a:t>  id: number</a:t>
            </a:r>
            <a:br/>
            <a:r>
              <a:t>  title: string</a:t>
            </a:r>
            <a:br/>
            <a:r>
              <a:t>  completed: boolean</a:t>
            </a:r>
            <a:br/>
            <a:r>
              <a:t>  user_id: string</a:t>
            </a:r>
            <a:br/>
            <a:r>
              <a:t>  created_at: string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代码示例：增删改查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// 查询数据</a:t>
            </a:r>
            <a:br/>
            <a:r>
              <a:t>const { data, error } = await supabase</a:t>
            </a:r>
            <a:br/>
            <a:r>
              <a:t>  .from('todos')</a:t>
            </a:r>
            <a:br/>
            <a:r>
              <a:t>  .select('*')</a:t>
            </a:r>
            <a:br/>
            <a:r>
              <a:t>  .eq('user_id', userId)</a:t>
            </a:r>
            <a:br/>
            <a:r>
              <a:t>  .order('created_at', { ascending: false })</a:t>
            </a:r>
            <a:br/>
            <a:br/>
            <a:r>
              <a:t>// 插入数据</a:t>
            </a:r>
            <a:br/>
            <a:r>
              <a:t>const { data, error } = await supabase</a:t>
            </a:r>
            <a:br/>
            <a:r>
              <a:t>  .from('todos')</a:t>
            </a:r>
            <a:br/>
            <a:r>
              <a:t>  .insert({ title: 'Learn Supabase', user_id: userId })</a:t>
            </a:r>
            <a:br/>
            <a:br/>
            <a:r>
              <a:t>// 更新数据</a:t>
            </a:r>
            <a:br/>
            <a:r>
              <a:t>const { error } = await supabase</a:t>
            </a:r>
            <a:br/>
            <a:r>
              <a:t>  .from('todos')</a:t>
            </a:r>
            <a:br/>
            <a:r>
              <a:t>  .update({ completed: true })</a:t>
            </a:r>
            <a:br/>
            <a:r>
              <a:t>  .eq('id', todoId)</a:t>
            </a:r>
            <a:br/>
            <a:br/>
            <a:r>
              <a:t>// 删除数据</a:t>
            </a:r>
            <a:br/>
            <a:r>
              <a:t>const { error } = await supabase</a:t>
            </a:r>
            <a:br/>
            <a:r>
              <a:t>  .from('todos')</a:t>
            </a:r>
            <a:br/>
            <a:r>
              <a:t>  .delete()</a:t>
            </a:r>
            <a:br/>
            <a:r>
              <a:t>  .eq('id', todoId)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代码示例：实时订阅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// 订阅数据变化</a:t>
            </a:r>
            <a:br/>
            <a:r>
              <a:t>const channel = supabase</a:t>
            </a:r>
            <a:br/>
            <a:r>
              <a:t>  .channel('todos-changes')</a:t>
            </a:r>
            <a:br/>
            <a:r>
              <a:t>  .on(</a:t>
            </a:r>
            <a:br/>
            <a:r>
              <a:t>    'postgres_changes',</a:t>
            </a:r>
            <a:br/>
            <a:r>
              <a:t>    {</a:t>
            </a:r>
            <a:br/>
            <a:r>
              <a:t>      event: '*',          // INSERT, UPDATE, DELETE</a:t>
            </a:r>
            <a:br/>
            <a:r>
              <a:t>      schema: 'public',</a:t>
            </a:r>
            <a:br/>
            <a:r>
              <a:t>      table: 'todos',</a:t>
            </a:r>
            <a:br/>
            <a:r>
              <a:t>      filter: `user_id=eq.${userId}`</a:t>
            </a:r>
            <a:br/>
            <a:r>
              <a:t>    },</a:t>
            </a:r>
            <a:br/>
            <a:r>
              <a:t>    (payload) =&gt; {</a:t>
            </a:r>
            <a:br/>
            <a:r>
              <a:t>      console.log('数据变化:', payload)</a:t>
            </a:r>
            <a:br/>
            <a:r>
              <a:t>      // 实时更新 UI</a:t>
            </a:r>
            <a:br/>
            <a:r>
              <a:t>      if (payload.eventType === 'INSERT') {</a:t>
            </a:r>
            <a:br/>
            <a:r>
              <a:t>        addTodoToList(payload.new)</a:t>
            </a:r>
            <a:br/>
            <a:r>
              <a:t>      } else if (payload.eventType === 'DELETE') {</a:t>
            </a:r>
            <a:br/>
            <a:r>
              <a:t>        removeTodoFromList(payload.old)</a:t>
            </a:r>
            <a:br/>
            <a:r>
              <a:t>      }</a:t>
            </a:r>
            <a:br/>
            <a:r>
              <a:t>    }</a:t>
            </a:r>
            <a:br/>
            <a:r>
              <a:t>  )</a:t>
            </a:r>
            <a:br/>
            <a:r>
              <a:t>  .subscribe()</a:t>
            </a:r>
            <a:br/>
            <a:br/>
            <a:r>
              <a:t>// 取消订阅</a:t>
            </a:r>
            <a:br/>
            <a:r>
              <a:t>channel.unsubscribe()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代码示例：用户认证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// 邮箱注册</a:t>
            </a:r>
            <a:br/>
            <a:r>
              <a:t>const { data, error } = await supabase.auth.signUp({</a:t>
            </a:r>
            <a:br/>
            <a:r>
              <a:t>  email: 'user@example.com',</a:t>
            </a:r>
            <a:br/>
            <a:r>
              <a:t>  password: 'password123'</a:t>
            </a:r>
            <a:br/>
            <a:r>
              <a:t>})</a:t>
            </a:r>
            <a:br/>
            <a:br/>
            <a:r>
              <a:t>// 邮箱登录</a:t>
            </a:r>
            <a:br/>
            <a:r>
              <a:t>const { data, error } = await supabase.auth.signInWithPassword({</a:t>
            </a:r>
            <a:br/>
            <a:r>
              <a:t>  email: 'user@example.com',</a:t>
            </a:r>
            <a:br/>
            <a:r>
              <a:t>  password: 'password123'</a:t>
            </a:r>
            <a:br/>
            <a:r>
              <a:t>})</a:t>
            </a:r>
            <a:br/>
            <a:br/>
            <a:r>
              <a:t>// GitHub 社交登录</a:t>
            </a:r>
            <a:br/>
            <a:r>
              <a:t>const { data, error } = await supabase.auth.signInWithOAuth({</a:t>
            </a:r>
            <a:br/>
            <a:r>
              <a:t>  provider: 'github'</a:t>
            </a:r>
            <a:br/>
            <a:r>
              <a:t>})</a:t>
            </a:r>
            <a:br/>
            <a:br/>
            <a:r>
              <a:t>// 获取当前用户</a:t>
            </a:r>
            <a:br/>
            <a:r>
              <a:t>const { data: { user } } = await supabase.auth.getUser()</a:t>
            </a:r>
            <a:br/>
            <a:br/>
            <a:r>
              <a:t>// 登出</a:t>
            </a:r>
            <a:br/>
            <a:r>
              <a:t>await supabase.auth.signOut()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技术选型对比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546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96488"/>
                <a:gridCol w="2996488"/>
                <a:gridCol w="2996488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对比项</a:t>
                      </a:r>
                    </a:p>
                  </a:txBody>
                  <a:tcPr>
                    <a:solidFill>
                      <a:srgbClr val="3DD5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Supabase</a:t>
                      </a:r>
                    </a:p>
                  </a:txBody>
                  <a:tcPr>
                    <a:solidFill>
                      <a:srgbClr val="3DD5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Firebase</a:t>
                      </a:r>
                    </a:p>
                  </a:txBody>
                  <a:tcPr>
                    <a:solidFill>
                      <a:srgbClr val="3DD5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自建后端</a:t>
                      </a:r>
                    </a:p>
                  </a:txBody>
                  <a:tcPr>
                    <a:solidFill>
                      <a:srgbClr val="3DD59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开源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完全开源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 闭源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自主可控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PostgreSQL (SQL)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Firestore (NoSQL)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任意选择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学习成本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迁移成本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低（可导出）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中（有锁定）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自托管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支持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 不支持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支持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适用场景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中小型项目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快速原型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大型系统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选型建议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推荐使用 Supabase 的场景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个人项目、创业 MVP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前端团队独立完成全栈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需要 SQL 数据库复杂查询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关注数据隐私，希望可自托管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其他选择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Firebase：已有 Firebase 项目，或需要 NoSQL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自建后端：复杂业务逻辑、高并发场景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价格方案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Free 免费版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500MB 数据库存储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1GB 文件存储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50,000 月活用户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无限 API 请求</a:t>
            </a:r>
          </a:p>
          <a:p>
            <a:pPr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• Pro 专业版 $25/月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8GB 数据库存储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100GB 文件存储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100,000 月活用户</a:t>
            </a:r>
          </a:p>
          <a:p>
            <a:pPr lvl="1">
              <a:spcBef>
                <a:spcPts val="1200"/>
              </a:spcBef>
              <a:defRPr sz="2200">
                <a:solidFill>
                  <a:srgbClr val="1E293B"/>
                </a:solidFill>
              </a:defRPr>
            </a:pPr>
            <a:r>
              <a:t>每日备份 + 优先支持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总结与资源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3DD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关键要点</a:t>
            </a:r>
          </a:p>
          <a:p>
            <a:pPr>
              <a:spcBef>
                <a:spcPts val="1200"/>
              </a:spcBef>
              <a:defRPr sz="1800">
                <a:solidFill>
                  <a:srgbClr val="1E293B"/>
                </a:solidFill>
              </a:defRPr>
            </a:pPr>
            <a:r>
              <a:t>✓ Supabase = 开源 Firebase 替代方案</a:t>
            </a:r>
          </a:p>
          <a:p>
            <a:pPr>
              <a:spcBef>
                <a:spcPts val="1200"/>
              </a:spcBef>
              <a:defRPr sz="1800">
                <a:solidFill>
                  <a:srgbClr val="1E293B"/>
                </a:solidFill>
              </a:defRPr>
            </a:pPr>
            <a:r>
              <a:t>✓ 基于 PostgreSQL，功能强大灵活</a:t>
            </a:r>
          </a:p>
          <a:p>
            <a:pPr>
              <a:spcBef>
                <a:spcPts val="1200"/>
              </a:spcBef>
              <a:defRPr sz="1800">
                <a:solidFill>
                  <a:srgbClr val="1E293B"/>
                </a:solidFill>
              </a:defRPr>
            </a:pPr>
            <a:r>
              <a:t>✓ 前后端一站式，开发效率提升 10x</a:t>
            </a:r>
          </a:p>
          <a:p>
            <a:pPr>
              <a:spcBef>
                <a:spcPts val="1200"/>
              </a:spcBef>
              <a:defRPr sz="1800">
                <a:solidFill>
                  <a:srgbClr val="1E293B"/>
                </a:solidFill>
              </a:defRPr>
            </a:pPr>
            <a:r>
              <a:t>✓ 免费额度友好，适合快速验证想法</a:t>
            </a:r>
          </a:p>
          <a:p>
            <a:pPr>
              <a:spcBef>
                <a:spcPts val="1200"/>
              </a:spcBef>
              <a:defRPr sz="1800">
                <a:solidFill>
                  <a:srgbClr val="1E293B"/>
                </a:solidFill>
              </a:defRPr>
            </a:pPr>
            <a:r>
              <a:t>✓ 开源可控，可自托管无锁定风险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推荐资源</a:t>
            </a:r>
          </a:p>
          <a:p>
            <a:pPr>
              <a:spcBef>
                <a:spcPts val="1200"/>
              </a:spcBef>
              <a:defRPr sz="1600">
                <a:solidFill>
                  <a:srgbClr val="3B82F6"/>
                </a:solidFill>
              </a:defRPr>
            </a:pPr>
            <a:r>
              <a:t>→ 官网: supabase.com</a:t>
            </a:r>
          </a:p>
          <a:p>
            <a:pPr>
              <a:spcBef>
                <a:spcPts val="1200"/>
              </a:spcBef>
              <a:defRPr sz="1600">
                <a:solidFill>
                  <a:srgbClr val="3B82F6"/>
                </a:solidFill>
              </a:defRPr>
            </a:pPr>
            <a:r>
              <a:t>→ 文档: supabase.com/docs</a:t>
            </a:r>
          </a:p>
          <a:p>
            <a:pPr>
              <a:spcBef>
                <a:spcPts val="1200"/>
              </a:spcBef>
              <a:defRPr sz="1600">
                <a:solidFill>
                  <a:srgbClr val="3B82F6"/>
                </a:solidFill>
              </a:defRPr>
            </a:pPr>
            <a:r>
              <a:t>→ GitHub: github.com/supabase/supabase</a:t>
            </a:r>
          </a:p>
          <a:p>
            <a:pPr>
              <a:spcBef>
                <a:spcPts val="1200"/>
              </a:spcBef>
              <a:defRPr sz="1600">
                <a:solidFill>
                  <a:srgbClr val="3B82F6"/>
                </a:solidFill>
              </a:defRPr>
            </a:pPr>
            <a:r>
              <a:t>→ Discord 社区: supabase.com/discord</a:t>
            </a:r>
          </a:p>
          <a:p>
            <a:pPr>
              <a:spcBef>
                <a:spcPts val="1200"/>
              </a:spcBef>
              <a:defRPr sz="1600">
                <a:solidFill>
                  <a:srgbClr val="3B82F6"/>
                </a:solidFill>
              </a:defRPr>
            </a:pPr>
            <a:r>
              <a:t>→ 示例项目: github.com/supabase/supabase/tree/master/examples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DD598"/>
                </a:solidFill>
              </a:defRPr>
            </a:pPr>
            <a:r>
              <a:t>感谢聆听 |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